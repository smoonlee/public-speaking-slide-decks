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68" r:id="rId4"/>
    <p:sldId id="270" r:id="rId5"/>
    <p:sldId id="266" r:id="rId6"/>
    <p:sldId id="267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1958" autoAdjust="0"/>
  </p:normalViewPr>
  <p:slideViewPr>
    <p:cSldViewPr snapToGrid="0">
      <p:cViewPr varScale="1">
        <p:scale>
          <a:sx n="94" d="100"/>
          <a:sy n="94" d="100"/>
        </p:scale>
        <p:origin x="97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024FC8-169A-41DA-B22B-8D47ACEADE95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697867-9353-408E-88A3-61A37A09B9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293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Due to Azure Issues – this is frozen :D – Welcome to 2024 -&gt; https://blog.builtwithcaffeine.cloud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697867-9353-408E-88A3-61A37A09B96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0803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Reasons to use this:</a:t>
            </a:r>
            <a:br>
              <a:rPr lang="en-GB" dirty="0"/>
            </a:br>
            <a:r>
              <a:rPr lang="en-GB" dirty="0"/>
              <a:t> - Free</a:t>
            </a:r>
          </a:p>
          <a:p>
            <a:r>
              <a:rPr lang="en-GB" dirty="0"/>
              <a:t> - Cloud Based</a:t>
            </a:r>
          </a:p>
          <a:p>
            <a:r>
              <a:rPr lang="en-GB" dirty="0"/>
              <a:t> - Uses Lets Encrypt Certificates</a:t>
            </a:r>
          </a:p>
          <a:p>
            <a:r>
              <a:rPr lang="en-GB" dirty="0"/>
              <a:t> - Less Management Overhead</a:t>
            </a:r>
          </a:p>
          <a:p>
            <a:r>
              <a:rPr lang="en-GB" dirty="0"/>
              <a:t> - Automated Renewals</a:t>
            </a:r>
          </a:p>
          <a:p>
            <a:r>
              <a:rPr lang="en-GB" dirty="0"/>
              <a:t> - Native Azure Integration </a:t>
            </a:r>
          </a:p>
          <a:p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https://github.com/shibayan/keyvault-acmebot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697867-9353-408E-88A3-61A37A09B962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8803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Machine prep – Install Packages -&gt; Hugo, Git, </a:t>
            </a:r>
            <a:r>
              <a:rPr lang="en-GB" dirty="0" err="1"/>
              <a:t>VSCode</a:t>
            </a:r>
            <a:r>
              <a:rPr lang="en-GB" dirty="0"/>
              <a:t>, Pwsh7</a:t>
            </a:r>
          </a:p>
          <a:p>
            <a:r>
              <a:rPr lang="en-GB" dirty="0"/>
              <a:t>Configure Git User and Email</a:t>
            </a:r>
          </a:p>
          <a:p>
            <a:r>
              <a:rPr lang="en-GB" dirty="0"/>
              <a:t>Creating GitHub Repo user-group-</a:t>
            </a:r>
            <a:r>
              <a:rPr lang="en-GB" dirty="0" err="1"/>
              <a:t>swa</a:t>
            </a:r>
            <a:r>
              <a:rPr lang="en-GB" dirty="0"/>
              <a:t>-demo</a:t>
            </a:r>
          </a:p>
          <a:p>
            <a:r>
              <a:rPr lang="en-GB" dirty="0"/>
              <a:t>Create Hugo</a:t>
            </a:r>
          </a:p>
          <a:p>
            <a:r>
              <a:rPr lang="en-GB" dirty="0"/>
              <a:t>Clone Repo</a:t>
            </a:r>
          </a:p>
          <a:p>
            <a:r>
              <a:rPr lang="en-GB" dirty="0"/>
              <a:t>Git Init</a:t>
            </a:r>
          </a:p>
          <a:p>
            <a:r>
              <a:rPr lang="en-GB" dirty="0"/>
              <a:t>Install Hugo</a:t>
            </a:r>
          </a:p>
          <a:p>
            <a:r>
              <a:rPr lang="en-GB" dirty="0"/>
              <a:t>Git Commit</a:t>
            </a:r>
          </a:p>
          <a:p>
            <a:r>
              <a:rPr lang="en-GB" dirty="0"/>
              <a:t>Creating Azure Static Web App</a:t>
            </a:r>
          </a:p>
          <a:p>
            <a:r>
              <a:rPr lang="en-GB"/>
              <a:t>Configure Domain and Cert</a:t>
            </a:r>
          </a:p>
          <a:p>
            <a:endParaRPr lang="en-GB"/>
          </a:p>
          <a:p>
            <a:r>
              <a:rPr lang="en-GB" dirty="0"/>
              <a:t>Azure DNS / Cert</a:t>
            </a:r>
          </a:p>
          <a:p>
            <a:endParaRPr lang="en-GB" dirty="0"/>
          </a:p>
          <a:p>
            <a:r>
              <a:rPr lang="en-GB" dirty="0"/>
              <a:t>https://github.com/smoonlee/public-speaking-slide-decks/tree/main/Getting_Started_With_Blogging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697867-9353-408E-88A3-61A37A09B96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18393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697867-9353-408E-88A3-61A37A09B962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6515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0B236-0FDC-478A-BA6C-F858E3FC5F3C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10F48-6A0E-4B52-BB5F-89DD75C05D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0988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0B236-0FDC-478A-BA6C-F858E3FC5F3C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10F48-6A0E-4B52-BB5F-89DD75C05D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3606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0B236-0FDC-478A-BA6C-F858E3FC5F3C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10F48-6A0E-4B52-BB5F-89DD75C05D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8733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0B236-0FDC-478A-BA6C-F858E3FC5F3C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10F48-6A0E-4B52-BB5F-89DD75C05D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75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0B236-0FDC-478A-BA6C-F858E3FC5F3C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10F48-6A0E-4B52-BB5F-89DD75C05D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5662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0B236-0FDC-478A-BA6C-F858E3FC5F3C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10F48-6A0E-4B52-BB5F-89DD75C05D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2222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0B236-0FDC-478A-BA6C-F858E3FC5F3C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10F48-6A0E-4B52-BB5F-89DD75C05D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1664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0B236-0FDC-478A-BA6C-F858E3FC5F3C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10F48-6A0E-4B52-BB5F-89DD75C05D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6195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8360B236-0FDC-478A-BA6C-F858E3FC5F3C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5F10F48-6A0E-4B52-BB5F-89DD75C05D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1288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0B236-0FDC-478A-BA6C-F858E3FC5F3C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10F48-6A0E-4B52-BB5F-89DD75C05D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7487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0B236-0FDC-478A-BA6C-F858E3FC5F3C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10F48-6A0E-4B52-BB5F-89DD75C05D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5562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0B236-0FDC-478A-BA6C-F858E3FC5F3C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10F48-6A0E-4B52-BB5F-89DD75C05D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2725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0B236-0FDC-478A-BA6C-F858E3FC5F3C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10F48-6A0E-4B52-BB5F-89DD75C05D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43807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0B236-0FDC-478A-BA6C-F858E3FC5F3C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10F48-6A0E-4B52-BB5F-89DD75C05D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4597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360B236-0FDC-478A-BA6C-F858E3FC5F3C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05F10F48-6A0E-4B52-BB5F-89DD75C05D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62775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sl.com/how-to/order-free-90-day-ssl-tls-certificates-with-acme/" TargetMode="External"/><Relationship Id="rId3" Type="http://schemas.openxmlformats.org/officeDocument/2006/relationships/image" Target="../media/image7.png"/><Relationship Id="rId7" Type="http://schemas.openxmlformats.org/officeDocument/2006/relationships/hyperlink" Target="https://pki.goo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zerossl.com/features/acme/" TargetMode="External"/><Relationship Id="rId5" Type="http://schemas.openxmlformats.org/officeDocument/2006/relationships/hyperlink" Target="https://www.buypass.com/ssl/resources/acme-free-ssl" TargetMode="External"/><Relationship Id="rId4" Type="http://schemas.openxmlformats.org/officeDocument/2006/relationships/hyperlink" Target="https://letsencrypt.org/" TargetMode="External"/><Relationship Id="rId9" Type="http://schemas.openxmlformats.org/officeDocument/2006/relationships/hyperlink" Target="https://www.entrust.com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8F5419B-BCBD-42A2-BFFF-781C60733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3C5789-F55C-2649-0110-64F75F462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01" y="643467"/>
            <a:ext cx="10572000" cy="3776731"/>
          </a:xfrm>
          <a:effectLst/>
        </p:spPr>
        <p:txBody>
          <a:bodyPr>
            <a:normAutofit/>
          </a:bodyPr>
          <a:lstStyle/>
          <a:p>
            <a:r>
              <a:rPr lang="en-GB" sz="6600" dirty="0">
                <a:solidFill>
                  <a:schemeClr val="tx1"/>
                </a:solidFill>
              </a:rPr>
              <a:t>The Lazy Ops Guide to Azure Cert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B0DFCC-1DBC-A7FF-0396-A3052A88D0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4420198"/>
            <a:ext cx="10572000" cy="1295623"/>
          </a:xfrm>
          <a:effectLst/>
        </p:spPr>
        <p:txBody>
          <a:bodyPr>
            <a:normAutofit/>
          </a:bodyPr>
          <a:lstStyle/>
          <a:p>
            <a:r>
              <a:rPr lang="en-GB" sz="2400">
                <a:solidFill>
                  <a:schemeClr val="accent1"/>
                </a:solidFill>
              </a:rPr>
              <a:t>- Simon Lee</a:t>
            </a:r>
          </a:p>
        </p:txBody>
      </p:sp>
    </p:spTree>
    <p:extLst>
      <p:ext uri="{BB962C8B-B14F-4D97-AF65-F5344CB8AC3E}">
        <p14:creationId xmlns:p14="http://schemas.microsoft.com/office/powerpoint/2010/main" val="1752202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3FE73-A690-9962-4AE5-BD9FD05B8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644" y="447188"/>
            <a:ext cx="10571998" cy="970450"/>
          </a:xfrm>
        </p:spPr>
        <p:txBody>
          <a:bodyPr>
            <a:normAutofit/>
          </a:bodyPr>
          <a:lstStyle/>
          <a:p>
            <a:r>
              <a:rPr lang="en-GB" dirty="0"/>
              <a:t>Who am I?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D765DB-CC9E-364F-06C7-1C75BA40E4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30" r="14830"/>
          <a:stretch/>
        </p:blipFill>
        <p:spPr>
          <a:xfrm>
            <a:off x="8943052" y="4099233"/>
            <a:ext cx="2438946" cy="231157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B9F0F4-7986-A3A3-2205-0F763FB5B2DA}"/>
              </a:ext>
            </a:extLst>
          </p:cNvPr>
          <p:cNvSpPr txBox="1"/>
          <p:nvPr/>
        </p:nvSpPr>
        <p:spPr>
          <a:xfrm>
            <a:off x="1378085" y="2672321"/>
            <a:ext cx="889987" cy="6844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93192">
              <a:spcAft>
                <a:spcPts val="600"/>
              </a:spcAft>
            </a:pPr>
            <a:r>
              <a:rPr lang="en-GB" sz="1548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Socials:</a:t>
            </a:r>
          </a:p>
          <a:p>
            <a:pPr>
              <a:spcAft>
                <a:spcPts val="600"/>
              </a:spcAft>
            </a:pPr>
            <a:endParaRPr lang="en-GB"/>
          </a:p>
        </p:txBody>
      </p:sp>
      <p:pic>
        <p:nvPicPr>
          <p:cNvPr id="17" name="Picture 16" descr="A blue square with a white bird in the middle&#10;&#10;Description automatically generated">
            <a:extLst>
              <a:ext uri="{FF2B5EF4-FFF2-40B4-BE49-F238E27FC236}">
                <a16:creationId xmlns:a16="http://schemas.microsoft.com/office/drawing/2014/main" id="{269AC1CB-1A71-86F4-E728-CB343CAFA8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085" y="3005547"/>
            <a:ext cx="490816" cy="490816"/>
          </a:xfrm>
          <a:prstGeom prst="rect">
            <a:avLst/>
          </a:prstGeom>
        </p:spPr>
      </p:pic>
      <p:pic>
        <p:nvPicPr>
          <p:cNvPr id="19" name="Picture 18" descr="A blue square with white letters on it&#10;&#10;Description automatically generated">
            <a:extLst>
              <a:ext uri="{FF2B5EF4-FFF2-40B4-BE49-F238E27FC236}">
                <a16:creationId xmlns:a16="http://schemas.microsoft.com/office/drawing/2014/main" id="{73B30195-D35F-12E1-584A-A4AE7D3E3C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085" y="3496363"/>
            <a:ext cx="490816" cy="490816"/>
          </a:xfrm>
          <a:prstGeom prst="rect">
            <a:avLst/>
          </a:prstGeom>
        </p:spPr>
      </p:pic>
      <p:pic>
        <p:nvPicPr>
          <p:cNvPr id="21" name="Picture 20" descr="A yellow and blue typewriter with a paper&#10;&#10;Description automatically generated">
            <a:extLst>
              <a:ext uri="{FF2B5EF4-FFF2-40B4-BE49-F238E27FC236}">
                <a16:creationId xmlns:a16="http://schemas.microsoft.com/office/drawing/2014/main" id="{AF63ED48-7902-480C-6362-9D377FEBA8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085" y="4388131"/>
            <a:ext cx="490816" cy="49081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A40AEB-91DF-2475-5FD4-3E469C321A73}"/>
              </a:ext>
            </a:extLst>
          </p:cNvPr>
          <p:cNvSpPr txBox="1"/>
          <p:nvPr/>
        </p:nvSpPr>
        <p:spPr>
          <a:xfrm>
            <a:off x="1868901" y="3078834"/>
            <a:ext cx="1396536" cy="3305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93192">
              <a:spcAft>
                <a:spcPts val="600"/>
              </a:spcAft>
            </a:pPr>
            <a:r>
              <a:rPr lang="en-GB" sz="154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@smoon_lee</a:t>
            </a:r>
            <a:endParaRPr lang="en-GB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4FA235-88D7-F337-EA44-D7BEF6C790A2}"/>
              </a:ext>
            </a:extLst>
          </p:cNvPr>
          <p:cNvSpPr txBox="1"/>
          <p:nvPr/>
        </p:nvSpPr>
        <p:spPr>
          <a:xfrm>
            <a:off x="1868901" y="3563219"/>
            <a:ext cx="1688283" cy="3305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93192">
              <a:spcAft>
                <a:spcPts val="600"/>
              </a:spcAft>
            </a:pPr>
            <a:r>
              <a:rPr lang="en-GB" sz="154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Simon John Lee</a:t>
            </a:r>
            <a:endParaRPr lang="en-GB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F195E6-FE6B-20ED-1301-21BFF18165E1}"/>
              </a:ext>
            </a:extLst>
          </p:cNvPr>
          <p:cNvSpPr txBox="1"/>
          <p:nvPr/>
        </p:nvSpPr>
        <p:spPr>
          <a:xfrm>
            <a:off x="1868901" y="4462162"/>
            <a:ext cx="3586238" cy="3305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93192">
              <a:spcAft>
                <a:spcPts val="600"/>
              </a:spcAft>
            </a:pPr>
            <a:r>
              <a:rPr lang="en-GB" sz="154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https://blog.builtwithcaffeine.cloud</a:t>
            </a:r>
            <a:endParaRPr lang="en-GB" dirty="0"/>
          </a:p>
        </p:txBody>
      </p:sp>
      <p:pic>
        <p:nvPicPr>
          <p:cNvPr id="26" name="Picture 25" descr="A white cat in a circle&#10;&#10;Description automatically generated">
            <a:extLst>
              <a:ext uri="{FF2B5EF4-FFF2-40B4-BE49-F238E27FC236}">
                <a16:creationId xmlns:a16="http://schemas.microsoft.com/office/drawing/2014/main" id="{72081705-66DD-901B-18E3-7CF6B8071C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942" y="3980695"/>
            <a:ext cx="381874" cy="38187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B009CEB-9EF6-DE32-64B1-3E0A1419F0F4}"/>
              </a:ext>
            </a:extLst>
          </p:cNvPr>
          <p:cNvSpPr txBox="1"/>
          <p:nvPr/>
        </p:nvSpPr>
        <p:spPr>
          <a:xfrm>
            <a:off x="1854047" y="4006362"/>
            <a:ext cx="1297150" cy="3305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93192">
              <a:spcAft>
                <a:spcPts val="600"/>
              </a:spcAft>
            </a:pPr>
            <a:r>
              <a:rPr lang="en-GB" sz="154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@smoonlee</a:t>
            </a:r>
            <a:endParaRPr lang="en-GB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050AD8-7A5E-E15B-4835-FB7CAF155AAF}"/>
              </a:ext>
            </a:extLst>
          </p:cNvPr>
          <p:cNvSpPr txBox="1"/>
          <p:nvPr/>
        </p:nvSpPr>
        <p:spPr>
          <a:xfrm>
            <a:off x="5730643" y="2494722"/>
            <a:ext cx="3516280" cy="1591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93192">
              <a:spcAft>
                <a:spcPts val="600"/>
              </a:spcAft>
            </a:pPr>
            <a:r>
              <a:rPr lang="en-GB" sz="154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Azure Consultant @ Intercept BV</a:t>
            </a:r>
          </a:p>
          <a:p>
            <a:pPr defTabSz="393192">
              <a:spcAft>
                <a:spcPts val="600"/>
              </a:spcAft>
            </a:pPr>
            <a:r>
              <a:rPr lang="en-GB" sz="154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 10 Years in Tech</a:t>
            </a:r>
          </a:p>
          <a:p>
            <a:pPr defTabSz="393192">
              <a:spcAft>
                <a:spcPts val="600"/>
              </a:spcAft>
            </a:pPr>
            <a:r>
              <a:rPr lang="en-GB" sz="154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Started in Education </a:t>
            </a:r>
          </a:p>
          <a:p>
            <a:pPr defTabSz="393192">
              <a:spcAft>
                <a:spcPts val="600"/>
              </a:spcAft>
            </a:pPr>
            <a:r>
              <a:rPr lang="en-GB" sz="154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Moved to Private Sector</a:t>
            </a:r>
          </a:p>
          <a:p>
            <a:pPr defTabSz="393192">
              <a:spcAft>
                <a:spcPts val="600"/>
              </a:spcAft>
            </a:pPr>
            <a:r>
              <a:rPr lang="en-GB" sz="154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Moved to the Cloud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3142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776A6D-A2CE-5790-6F60-9C90690F7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60" y="465740"/>
            <a:ext cx="10571998" cy="970450"/>
          </a:xfrm>
        </p:spPr>
        <p:txBody>
          <a:bodyPr/>
          <a:lstStyle/>
          <a:p>
            <a:r>
              <a:rPr lang="en-GB" dirty="0"/>
              <a:t>Demystifying Certificate Management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F67D43-4524-E140-83E1-25111C31DA41}"/>
              </a:ext>
            </a:extLst>
          </p:cNvPr>
          <p:cNvSpPr txBox="1"/>
          <p:nvPr/>
        </p:nvSpPr>
        <p:spPr>
          <a:xfrm>
            <a:off x="1229360" y="2559488"/>
            <a:ext cx="9398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b="1" dirty="0"/>
              <a:t>The Real-World Problem:</a:t>
            </a:r>
            <a:br>
              <a:rPr lang="en-GB" b="1" dirty="0"/>
            </a:br>
            <a:endParaRPr lang="en-GB" b="1" dirty="0"/>
          </a:p>
          <a:p>
            <a:r>
              <a:rPr lang="en-GB" dirty="0"/>
              <a:t>- Managing TLS/SSL certificates in Azure can be tedious and error-prone.</a:t>
            </a:r>
          </a:p>
          <a:p>
            <a:endParaRPr lang="en-GB" dirty="0"/>
          </a:p>
          <a:p>
            <a:r>
              <a:rPr lang="en-GB" dirty="0"/>
              <a:t>- It often involves: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Requesting certs manually.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Uploading them to Azure services.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Remembering to renew them (😬).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Scripting the whole thing if you want some automation.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3717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0EE8E-4BF4-C9E0-C1DA-EB003B019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280" y="181548"/>
            <a:ext cx="10571998" cy="970450"/>
          </a:xfrm>
        </p:spPr>
        <p:txBody>
          <a:bodyPr/>
          <a:lstStyle/>
          <a:p>
            <a:r>
              <a:rPr lang="en-GB" dirty="0">
                <a:latin typeface="+mn-lt"/>
              </a:rPr>
              <a:t>Key Vault ACME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2943BF-ECF1-490A-59B5-F3422D6B3C2C}"/>
              </a:ext>
            </a:extLst>
          </p:cNvPr>
          <p:cNvSpPr txBox="1"/>
          <p:nvPr/>
        </p:nvSpPr>
        <p:spPr>
          <a:xfrm>
            <a:off x="383280" y="1151998"/>
            <a:ext cx="6101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https://github.com/shibayan/keyvault-acmebot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F72FDE-F0AC-7AE8-348E-49E904329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237032"/>
            <a:ext cx="6504918" cy="42049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27790B-6150-1B40-09C9-E4B3BC05AD16}"/>
              </a:ext>
            </a:extLst>
          </p:cNvPr>
          <p:cNvSpPr txBox="1"/>
          <p:nvPr/>
        </p:nvSpPr>
        <p:spPr>
          <a:xfrm>
            <a:off x="6748758" y="2121359"/>
            <a:ext cx="490728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000" b="1" i="0" dirty="0">
                <a:effectLst/>
                <a:latin typeface="+mj-lt"/>
                <a:cs typeface="Aharoni" panose="02010803020104030203" pitchFamily="2" charset="-79"/>
              </a:rPr>
              <a:t>Support for ACME v2 compliant Certification Authorities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000" b="1" i="0" dirty="0">
                <a:effectLst/>
                <a:latin typeface="+mj-lt"/>
                <a:cs typeface="Aharoni" panose="02010803020104030203" pitchFamily="2" charset="-79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Let's Encrypt</a:t>
            </a:r>
            <a:endParaRPr lang="en-GB" sz="1000" b="1" i="0" dirty="0">
              <a:effectLst/>
              <a:latin typeface="+mj-lt"/>
              <a:cs typeface="Aharoni" panose="02010803020104030203" pitchFamily="2" charset="-79"/>
            </a:endParaRP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000" b="1" i="0" dirty="0" err="1">
                <a:effectLst/>
                <a:latin typeface="+mj-lt"/>
                <a:cs typeface="Aharoni" panose="02010803020104030203" pitchFamily="2" charset="-79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Buypass</a:t>
            </a:r>
            <a:r>
              <a:rPr lang="en-GB" sz="1000" b="1" i="0" dirty="0">
                <a:effectLst/>
                <a:latin typeface="+mj-lt"/>
                <a:cs typeface="Aharoni" panose="02010803020104030203" pitchFamily="2" charset="-79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Go SSL</a:t>
            </a:r>
            <a:endParaRPr lang="en-GB" sz="1000" b="1" i="0" dirty="0">
              <a:effectLst/>
              <a:latin typeface="+mj-lt"/>
              <a:cs typeface="Aharoni" panose="02010803020104030203" pitchFamily="2" charset="-79"/>
            </a:endParaRP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000" b="1" i="0" dirty="0" err="1">
                <a:effectLst/>
                <a:latin typeface="+mj-lt"/>
                <a:cs typeface="Aharoni" panose="02010803020104030203" pitchFamily="2" charset="-79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ZeroSSL</a:t>
            </a:r>
            <a:r>
              <a:rPr lang="en-GB" sz="1000" b="1" i="0" dirty="0">
                <a:effectLst/>
                <a:latin typeface="+mj-lt"/>
                <a:cs typeface="Aharoni" panose="02010803020104030203" pitchFamily="2" charset="-79"/>
              </a:rPr>
              <a:t> (Requires EAB Credentials)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000" b="1" i="0" dirty="0">
                <a:effectLst/>
                <a:latin typeface="+mj-lt"/>
                <a:cs typeface="Aharoni" panose="02010803020104030203" pitchFamily="2" charset="-79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Trust Services</a:t>
            </a:r>
            <a:r>
              <a:rPr lang="en-GB" sz="1000" b="1" i="0" dirty="0">
                <a:effectLst/>
                <a:latin typeface="+mj-lt"/>
                <a:cs typeface="Aharoni" panose="02010803020104030203" pitchFamily="2" charset="-79"/>
              </a:rPr>
              <a:t> (Requires EAB Credentials)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000" b="1" i="0" dirty="0">
                <a:effectLst/>
                <a:latin typeface="+mj-lt"/>
                <a:cs typeface="Aharoni" panose="02010803020104030203" pitchFamily="2" charset="-79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SSL.com</a:t>
            </a:r>
            <a:r>
              <a:rPr lang="en-GB" sz="1000" b="1" i="0" dirty="0">
                <a:effectLst/>
                <a:latin typeface="+mj-lt"/>
                <a:cs typeface="Aharoni" panose="02010803020104030203" pitchFamily="2" charset="-79"/>
              </a:rPr>
              <a:t> (Requires EAB Credentials)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000" b="1" i="0" u="sng" dirty="0">
                <a:effectLst/>
                <a:latin typeface="+mj-lt"/>
                <a:cs typeface="Aharoni" panose="02010803020104030203" pitchFamily="2" charset="-79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Entrust</a:t>
            </a:r>
            <a:r>
              <a:rPr lang="en-GB" sz="1000" b="1" i="0" dirty="0">
                <a:effectLst/>
                <a:latin typeface="+mj-lt"/>
                <a:cs typeface="Aharoni" panose="02010803020104030203" pitchFamily="2" charset="-79"/>
              </a:rPr>
              <a:t> (Requires EAB Credentials)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000" b="1" i="0" dirty="0">
                <a:effectLst/>
                <a:latin typeface="+mj-lt"/>
                <a:cs typeface="Aharoni" panose="02010803020104030203" pitchFamily="2" charset="-79"/>
              </a:rPr>
              <a:t>Certificates can be used with many Azure services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000" b="1" i="0" dirty="0">
                <a:effectLst/>
                <a:latin typeface="+mj-lt"/>
                <a:cs typeface="Aharoni" panose="02010803020104030203" pitchFamily="2" charset="-79"/>
              </a:rPr>
              <a:t>Azure App Services (Web Apps / Functions / Containers)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000" b="1" i="0" dirty="0">
                <a:effectLst/>
                <a:latin typeface="+mj-lt"/>
                <a:cs typeface="Aharoni" panose="02010803020104030203" pitchFamily="2" charset="-79"/>
              </a:rPr>
              <a:t>Azure Container Apps (Include custom DNS suffix)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000" b="1" i="0" dirty="0">
                <a:effectLst/>
                <a:latin typeface="+mj-lt"/>
                <a:cs typeface="Aharoni" panose="02010803020104030203" pitchFamily="2" charset="-79"/>
              </a:rPr>
              <a:t>Front Door (Standard / Premium)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000" b="1" i="0" dirty="0">
                <a:effectLst/>
                <a:latin typeface="+mj-lt"/>
                <a:cs typeface="Aharoni" panose="02010803020104030203" pitchFamily="2" charset="-79"/>
              </a:rPr>
              <a:t>Application Gateway v2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000" b="1" i="0" dirty="0">
                <a:effectLst/>
                <a:latin typeface="+mj-lt"/>
                <a:cs typeface="Aharoni" panose="02010803020104030203" pitchFamily="2" charset="-79"/>
              </a:rPr>
              <a:t>API Management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000" b="1" i="0" dirty="0" err="1">
                <a:effectLst/>
                <a:latin typeface="+mj-lt"/>
                <a:cs typeface="Aharoni" panose="02010803020104030203" pitchFamily="2" charset="-79"/>
              </a:rPr>
              <a:t>SignalR</a:t>
            </a:r>
            <a:r>
              <a:rPr lang="en-GB" sz="1000" b="1" i="0" dirty="0">
                <a:effectLst/>
                <a:latin typeface="+mj-lt"/>
                <a:cs typeface="Aharoni" panose="02010803020104030203" pitchFamily="2" charset="-79"/>
              </a:rPr>
              <a:t> Service (Premium)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000" b="1" i="0" dirty="0">
                <a:effectLst/>
                <a:latin typeface="+mj-lt"/>
                <a:cs typeface="Aharoni" panose="02010803020104030203" pitchFamily="2" charset="-79"/>
              </a:rPr>
              <a:t>Virtual Machine</a:t>
            </a:r>
          </a:p>
        </p:txBody>
      </p:sp>
    </p:spTree>
    <p:extLst>
      <p:ext uri="{BB962C8B-B14F-4D97-AF65-F5344CB8AC3E}">
        <p14:creationId xmlns:p14="http://schemas.microsoft.com/office/powerpoint/2010/main" val="3552701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8A4CE-59C9-CE20-4E30-66CB192BC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643467"/>
            <a:ext cx="10572000" cy="3776731"/>
          </a:xfrm>
          <a:effectLst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dirty="0">
                <a:solidFill>
                  <a:schemeClr val="tx1"/>
                </a:solidFill>
              </a:rPr>
              <a:t>The Fun Part :: Demo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DAE45-980D-1E00-036A-018FC2AA0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1" y="4420198"/>
            <a:ext cx="10572000" cy="1295623"/>
          </a:xfrm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0713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2647E2-7D2F-4C4F-872B-ACE1717F5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29A0D4-16AF-94D5-AA15-B2F7A27AE3D8}"/>
              </a:ext>
            </a:extLst>
          </p:cNvPr>
          <p:cNvSpPr/>
          <p:nvPr/>
        </p:nvSpPr>
        <p:spPr>
          <a:xfrm>
            <a:off x="6573692" y="0"/>
            <a:ext cx="561830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7D413C2-1363-4D2E-97D4-7F3549760E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2" y="0"/>
            <a:ext cx="7057118" cy="6858000"/>
          </a:xfrm>
          <a:custGeom>
            <a:avLst/>
            <a:gdLst>
              <a:gd name="connsiteX0" fmla="*/ 0 w 7057118"/>
              <a:gd name="connsiteY0" fmla="*/ 0 h 6858000"/>
              <a:gd name="connsiteX1" fmla="*/ 2420113 w 7057118"/>
              <a:gd name="connsiteY1" fmla="*/ 0 h 6858000"/>
              <a:gd name="connsiteX2" fmla="*/ 2496703 w 7057118"/>
              <a:gd name="connsiteY2" fmla="*/ 0 h 6858000"/>
              <a:gd name="connsiteX3" fmla="*/ 7057118 w 7057118"/>
              <a:gd name="connsiteY3" fmla="*/ 0 h 6858000"/>
              <a:gd name="connsiteX4" fmla="*/ 7057118 w 7057118"/>
              <a:gd name="connsiteY4" fmla="*/ 1900238 h 6858000"/>
              <a:gd name="connsiteX5" fmla="*/ 6686702 w 7057118"/>
              <a:gd name="connsiteY5" fmla="*/ 2178050 h 6858000"/>
              <a:gd name="connsiteX6" fmla="*/ 6682468 w 7057118"/>
              <a:gd name="connsiteY6" fmla="*/ 2184400 h 6858000"/>
              <a:gd name="connsiteX7" fmla="*/ 6676118 w 7057118"/>
              <a:gd name="connsiteY7" fmla="*/ 2193925 h 6858000"/>
              <a:gd name="connsiteX8" fmla="*/ 6669768 w 7057118"/>
              <a:gd name="connsiteY8" fmla="*/ 2201863 h 6858000"/>
              <a:gd name="connsiteX9" fmla="*/ 6669768 w 7057118"/>
              <a:gd name="connsiteY9" fmla="*/ 2211388 h 6858000"/>
              <a:gd name="connsiteX10" fmla="*/ 6669768 w 7057118"/>
              <a:gd name="connsiteY10" fmla="*/ 2220913 h 6858000"/>
              <a:gd name="connsiteX11" fmla="*/ 6676118 w 7057118"/>
              <a:gd name="connsiteY11" fmla="*/ 2228850 h 6858000"/>
              <a:gd name="connsiteX12" fmla="*/ 6682468 w 7057118"/>
              <a:gd name="connsiteY12" fmla="*/ 2238375 h 6858000"/>
              <a:gd name="connsiteX13" fmla="*/ 6686702 w 7057118"/>
              <a:gd name="connsiteY13" fmla="*/ 2244725 h 6858000"/>
              <a:gd name="connsiteX14" fmla="*/ 7057118 w 7057118"/>
              <a:gd name="connsiteY14" fmla="*/ 2522538 h 6858000"/>
              <a:gd name="connsiteX15" fmla="*/ 7057118 w 7057118"/>
              <a:gd name="connsiteY15" fmla="*/ 6858000 h 6858000"/>
              <a:gd name="connsiteX16" fmla="*/ 2496703 w 7057118"/>
              <a:gd name="connsiteY16" fmla="*/ 6858000 h 6858000"/>
              <a:gd name="connsiteX17" fmla="*/ 2420113 w 7057118"/>
              <a:gd name="connsiteY17" fmla="*/ 6858000 h 6858000"/>
              <a:gd name="connsiteX18" fmla="*/ 0 w 7057118"/>
              <a:gd name="connsiteY1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057118" h="6858000">
                <a:moveTo>
                  <a:pt x="0" y="0"/>
                </a:moveTo>
                <a:lnTo>
                  <a:pt x="2420113" y="0"/>
                </a:lnTo>
                <a:lnTo>
                  <a:pt x="2496703" y="0"/>
                </a:lnTo>
                <a:lnTo>
                  <a:pt x="7057118" y="0"/>
                </a:lnTo>
                <a:lnTo>
                  <a:pt x="7057118" y="1900238"/>
                </a:lnTo>
                <a:lnTo>
                  <a:pt x="6686702" y="2178050"/>
                </a:lnTo>
                <a:lnTo>
                  <a:pt x="6682468" y="2184400"/>
                </a:lnTo>
                <a:lnTo>
                  <a:pt x="6676118" y="2193925"/>
                </a:lnTo>
                <a:lnTo>
                  <a:pt x="6669768" y="2201863"/>
                </a:lnTo>
                <a:lnTo>
                  <a:pt x="6669768" y="2211388"/>
                </a:lnTo>
                <a:lnTo>
                  <a:pt x="6669768" y="2220913"/>
                </a:lnTo>
                <a:lnTo>
                  <a:pt x="6676118" y="2228850"/>
                </a:lnTo>
                <a:lnTo>
                  <a:pt x="6682468" y="2238375"/>
                </a:lnTo>
                <a:lnTo>
                  <a:pt x="6686702" y="2244725"/>
                </a:lnTo>
                <a:lnTo>
                  <a:pt x="7057118" y="2522538"/>
                </a:lnTo>
                <a:lnTo>
                  <a:pt x="7057118" y="6858000"/>
                </a:lnTo>
                <a:lnTo>
                  <a:pt x="2496703" y="6858000"/>
                </a:lnTo>
                <a:lnTo>
                  <a:pt x="242011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solidFill>
              <a:schemeClr val="accent1"/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1CE1DC-8103-79B7-BE0C-50139B710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4" y="1600200"/>
            <a:ext cx="6020987" cy="44411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6600" dirty="0"/>
              <a:t>Questions?</a:t>
            </a:r>
          </a:p>
        </p:txBody>
      </p:sp>
      <p:pic>
        <p:nvPicPr>
          <p:cNvPr id="7" name="Graphic 6" descr="Question mark">
            <a:extLst>
              <a:ext uri="{FF2B5EF4-FFF2-40B4-BE49-F238E27FC236}">
                <a16:creationId xmlns:a16="http://schemas.microsoft.com/office/drawing/2014/main" id="{E49E6B02-9489-E9F9-DFBA-E527E43BBA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92536" y="1217048"/>
            <a:ext cx="3847950" cy="3847950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90B2A3B-62C2-9A29-B3AB-13BF59EB28EF}"/>
              </a:ext>
            </a:extLst>
          </p:cNvPr>
          <p:cNvSpPr/>
          <p:nvPr/>
        </p:nvSpPr>
        <p:spPr>
          <a:xfrm>
            <a:off x="894873" y="3787517"/>
            <a:ext cx="5577627" cy="255496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 descr="A blue square with a white bird in the middle&#10;&#10;Description automatically generated">
            <a:extLst>
              <a:ext uri="{FF2B5EF4-FFF2-40B4-BE49-F238E27FC236}">
                <a16:creationId xmlns:a16="http://schemas.microsoft.com/office/drawing/2014/main" id="{B041013E-FECC-674A-57EE-B3CC69B181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523" y="4328774"/>
            <a:ext cx="565221" cy="490816"/>
          </a:xfrm>
          <a:prstGeom prst="rect">
            <a:avLst/>
          </a:prstGeom>
        </p:spPr>
      </p:pic>
      <p:pic>
        <p:nvPicPr>
          <p:cNvPr id="5" name="Picture 4" descr="A blue square with white letters on it&#10;&#10;Description automatically generated">
            <a:extLst>
              <a:ext uri="{FF2B5EF4-FFF2-40B4-BE49-F238E27FC236}">
                <a16:creationId xmlns:a16="http://schemas.microsoft.com/office/drawing/2014/main" id="{B84CB849-9C93-6BB0-6990-7396F9A843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523" y="4819590"/>
            <a:ext cx="565221" cy="490816"/>
          </a:xfrm>
          <a:prstGeom prst="rect">
            <a:avLst/>
          </a:prstGeom>
        </p:spPr>
      </p:pic>
      <p:pic>
        <p:nvPicPr>
          <p:cNvPr id="6" name="Picture 5" descr="A yellow and blue typewriter with a paper&#10;&#10;Description automatically generated">
            <a:extLst>
              <a:ext uri="{FF2B5EF4-FFF2-40B4-BE49-F238E27FC236}">
                <a16:creationId xmlns:a16="http://schemas.microsoft.com/office/drawing/2014/main" id="{7852BEDA-C715-1C7F-E679-6F0B06B16CD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523" y="5711358"/>
            <a:ext cx="565221" cy="4908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EED3BA-F76B-F322-A132-BB130E0A85B8}"/>
              </a:ext>
            </a:extLst>
          </p:cNvPr>
          <p:cNvSpPr txBox="1"/>
          <p:nvPr/>
        </p:nvSpPr>
        <p:spPr>
          <a:xfrm>
            <a:off x="1736340" y="4402061"/>
            <a:ext cx="1608242" cy="330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93192">
              <a:spcAft>
                <a:spcPts val="600"/>
              </a:spcAft>
            </a:pPr>
            <a:r>
              <a:rPr lang="en-GB" sz="1548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@smoon_lee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6F5A91-2D2D-BD3D-5420-C51E48EAF39D}"/>
              </a:ext>
            </a:extLst>
          </p:cNvPr>
          <p:cNvSpPr txBox="1"/>
          <p:nvPr/>
        </p:nvSpPr>
        <p:spPr>
          <a:xfrm>
            <a:off x="1736340" y="4886446"/>
            <a:ext cx="1944216" cy="330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93192">
              <a:spcAft>
                <a:spcPts val="600"/>
              </a:spcAft>
            </a:pPr>
            <a:r>
              <a:rPr lang="en-GB" sz="1548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Simon John Lee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A4BD24-38E4-54D7-F4F6-F3B96FD4D261}"/>
              </a:ext>
            </a:extLst>
          </p:cNvPr>
          <p:cNvSpPr txBox="1"/>
          <p:nvPr/>
        </p:nvSpPr>
        <p:spPr>
          <a:xfrm>
            <a:off x="1736339" y="5785389"/>
            <a:ext cx="3982209" cy="330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93192">
              <a:spcAft>
                <a:spcPts val="600"/>
              </a:spcAft>
            </a:pPr>
            <a:r>
              <a:rPr lang="en-GB" sz="1548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https://blog.builtwithcaffine.cloud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13" name="Picture 12" descr="A white cat in a circle&#10;&#10;Description automatically generated">
            <a:extLst>
              <a:ext uri="{FF2B5EF4-FFF2-40B4-BE49-F238E27FC236}">
                <a16:creationId xmlns:a16="http://schemas.microsoft.com/office/drawing/2014/main" id="{C9472E76-8D24-EB9A-2FCD-5C039AA7D4A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381" y="5303922"/>
            <a:ext cx="439764" cy="38187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8DB5D70-404D-BB38-5B00-EDDDA511F5B0}"/>
              </a:ext>
            </a:extLst>
          </p:cNvPr>
          <p:cNvSpPr txBox="1"/>
          <p:nvPr/>
        </p:nvSpPr>
        <p:spPr>
          <a:xfrm>
            <a:off x="1721486" y="5329589"/>
            <a:ext cx="1493790" cy="330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93192">
              <a:spcAft>
                <a:spcPts val="600"/>
              </a:spcAft>
            </a:pPr>
            <a:r>
              <a:rPr lang="en-GB" sz="1548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@smoonlee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F9ECFC-CAF6-A2E6-257A-39BB35D744D2}"/>
              </a:ext>
            </a:extLst>
          </p:cNvPr>
          <p:cNvSpPr txBox="1"/>
          <p:nvPr/>
        </p:nvSpPr>
        <p:spPr>
          <a:xfrm>
            <a:off x="1302381" y="3984532"/>
            <a:ext cx="1410720" cy="330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93192">
              <a:spcAft>
                <a:spcPts val="600"/>
              </a:spcAft>
            </a:pPr>
            <a:r>
              <a:rPr lang="en-GB" sz="1548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The Socials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53350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0</TotalTime>
  <Words>367</Words>
  <Application>Microsoft Office PowerPoint</Application>
  <PresentationFormat>Widescreen</PresentationFormat>
  <Paragraphs>73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Century Gothic</vt:lpstr>
      <vt:lpstr>Wingdings 2</vt:lpstr>
      <vt:lpstr>Quotable</vt:lpstr>
      <vt:lpstr>The Lazy Ops Guide to Azure Cert Management</vt:lpstr>
      <vt:lpstr>Who am I? </vt:lpstr>
      <vt:lpstr>Demystifying Certificate Management</vt:lpstr>
      <vt:lpstr>Key Vault ACME</vt:lpstr>
      <vt:lpstr>The Fun Part :: Demo Time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started with  Static Web Apps and Bloggings</dc:title>
  <dc:creator>Simon Lee | Intercept</dc:creator>
  <cp:lastModifiedBy>Simon Lee | Intercept</cp:lastModifiedBy>
  <cp:revision>7</cp:revision>
  <dcterms:created xsi:type="dcterms:W3CDTF">2023-10-05T07:48:35Z</dcterms:created>
  <dcterms:modified xsi:type="dcterms:W3CDTF">2025-04-11T07:04:36Z</dcterms:modified>
</cp:coreProperties>
</file>