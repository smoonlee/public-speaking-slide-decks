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90D3-EA49-EBCE-5D1D-2CC892701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4D9CD-7037-E142-035D-EDAD3923E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2CA3-5FD0-8EB7-EAB0-A0E1BE01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A4990-9109-012E-BA91-9F303AE4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2B69-E551-4187-A1BA-6FF74EE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8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C44B-C5BA-4F3E-22D0-81C60B8B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CE86-DECB-8144-EE56-53A41DCD4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344F3-A028-E463-6B9C-83935F3E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4126-00C2-2B56-70EC-DB8B01D7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D5656-B02C-73B8-9EA1-97152032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33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419C-E23B-B7BB-B45C-E5B4BD05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D61C3-0FD4-C01A-F225-3F62B2EDF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677F-8790-F252-37AC-59C4D318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5C99E-0E64-0853-DE74-B96DD5EE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C1D51-5697-9D85-9139-A509AAC3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02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4757-F031-AEDE-93BA-500E7959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312E-C85D-EAEB-3EA3-DC047278A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6BF9C-2822-6218-0979-495DD7DA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13066-1DD2-718F-EFC9-C014796DC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13054-0E82-2B93-F2A1-B7A16B12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0F336-BAD9-35A4-5D32-395D3B77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95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88D8-FC84-9FA7-D4A6-6012E66B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864C-AE18-9492-79D3-1DFDEC16B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B618D-B6EB-7681-DC09-9F71EF2DB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51C16-F231-97B2-0613-0F4EF77E7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D596E-FA7B-BA7A-C0B9-73B219F2A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717CF-3C0F-2B81-C25D-21DDB5B2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B4B60-AEAB-5193-0C2A-4F61F149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5AC1C-530D-9098-3977-91DB4AA5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64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A88F-0749-F61D-861D-0FB1DCB8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16724-A67F-7D6F-A010-2F1FDB42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F73EF-57BE-4DE7-396C-1BE03D01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1BB1F-04AC-212B-413B-B0D84D98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FBC3C-3777-89C7-3DE1-593ABEAB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7B93C-6582-82A3-DD31-A9C4D4FE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DEA3A-C27F-E1B8-8266-0407B92F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0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F362-560E-3296-75AA-B8AAACA3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A46E6-31EA-653B-C4DD-DFE972212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C1BE-2B90-D5FE-1138-07866A0CF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F6560-7A59-1CB2-D838-74666C105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E2950-3162-5354-2108-6553F036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B4BF3-46D1-FC09-3C38-485A8CA4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87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88DD-148F-616D-D074-94957C36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A3576-0BF6-44FB-C373-2F4D5027E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9F61-1404-5C31-152B-5325B51B7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85497-3D09-15FE-6714-4D66846F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1FFD8-08AA-6C7A-0A50-D276FCB0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95704-455E-4AE1-B20F-54A32E4B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71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DCA2-98E5-8B03-101A-6EFC48D3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54956-691E-5E53-9B3F-F3021C5C1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E785-2CDB-9F83-F016-868BDE4C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76420-C072-0543-BBB0-F43E5100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E4ADE-BEFC-C353-FBA7-1425CA54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5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15DC8-C70C-EA8F-3CD7-C9F609AD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6C02D-9914-60BD-2906-AD8A2D10A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3672-9CDA-A875-8615-0D0F37F1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1D8E6-32DB-7937-A279-43FF9E84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2BE31-BF19-1EEB-27DC-50B57892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91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B7526-90EB-B66C-5302-082823F8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85DA6-20D5-8A5F-E132-15CB8D5AC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3D19-0113-810E-120A-DA2B507A7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25ED2-A613-4934-985F-5A7D09E1ECC5}" type="datetimeFigureOut">
              <a:rPr lang="en-GB" smtClean="0"/>
              <a:t>09/06/2025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1EA12-8401-AF4E-B686-901847582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1074A-9AB1-E4C3-9F43-2BBC5252C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DE444-FBDB-4A14-BAD8-F93C16CD8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35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cert.com/blog/tls-certificate-lifetimes-will-officially-reduce-to-47-day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ntrust.com/" TargetMode="External"/><Relationship Id="rId3" Type="http://schemas.openxmlformats.org/officeDocument/2006/relationships/hyperlink" Target="https://letsencrypt.org/" TargetMode="External"/><Relationship Id="rId7" Type="http://schemas.openxmlformats.org/officeDocument/2006/relationships/hyperlink" Target="https://www.ssl.com/how-to/order-free-90-day-ssl-tls-certificates-with-acm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ki.goog/" TargetMode="External"/><Relationship Id="rId5" Type="http://schemas.openxmlformats.org/officeDocument/2006/relationships/hyperlink" Target="https://zerossl.com/features/acme/" TargetMode="External"/><Relationship Id="rId4" Type="http://schemas.openxmlformats.org/officeDocument/2006/relationships/hyperlink" Target="https://www.buypass.com/ssl/resources/acme-free-ss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B4BB0-25B4-2ED4-ABB5-323473F05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217" y="1231091"/>
            <a:ext cx="6596245" cy="1514425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solidFill>
                  <a:srgbClr val="FFFFFF"/>
                </a:solidFill>
              </a:rPr>
              <a:t>The Lazy Ops Guide to Cert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6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64181-829D-044C-A844-42A11E8E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FFFFF"/>
                </a:solidFill>
              </a:rPr>
              <a:t>Who Am I?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38E1E0-92EA-A17D-DC2E-5F151CB48384}"/>
              </a:ext>
            </a:extLst>
          </p:cNvPr>
          <p:cNvSpPr/>
          <p:nvPr/>
        </p:nvSpPr>
        <p:spPr>
          <a:xfrm>
            <a:off x="8738177" y="339275"/>
            <a:ext cx="2427006" cy="2427006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635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0C941-06A6-9E7C-9BB5-0B682D0865CF}"/>
              </a:ext>
            </a:extLst>
          </p:cNvPr>
          <p:cNvSpPr txBox="1"/>
          <p:nvPr/>
        </p:nvSpPr>
        <p:spPr>
          <a:xfrm>
            <a:off x="650240" y="1981200"/>
            <a:ext cx="7325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Simon Lee</a:t>
            </a:r>
          </a:p>
          <a:p>
            <a:endParaRPr lang="en-GB" sz="2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11F546-ADBB-0606-0FB4-6D9A3F827879}"/>
              </a:ext>
            </a:extLst>
          </p:cNvPr>
          <p:cNvSpPr/>
          <p:nvPr/>
        </p:nvSpPr>
        <p:spPr>
          <a:xfrm>
            <a:off x="8348979" y="3005501"/>
            <a:ext cx="3284221" cy="3210560"/>
          </a:xfrm>
          <a:prstGeom prst="roundRect">
            <a:avLst/>
          </a:prstGeom>
          <a:solidFill>
            <a:srgbClr val="0B2E3E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E8D2B-B832-5025-2D22-B742DE8443D4}"/>
              </a:ext>
            </a:extLst>
          </p:cNvPr>
          <p:cNvSpPr/>
          <p:nvPr/>
        </p:nvSpPr>
        <p:spPr>
          <a:xfrm>
            <a:off x="8584680" y="3357995"/>
            <a:ext cx="2796886" cy="2682240"/>
          </a:xfrm>
          <a:prstGeom prst="roundRect">
            <a:avLst/>
          </a:prstGeom>
          <a:blipFill dpi="0" rotWithShape="1">
            <a:blip r:embed="rId3"/>
            <a:srcRect/>
            <a:stretch>
              <a:fillRect l="5000" t="5000" r="5000" b="5000"/>
            </a:stretch>
          </a:blip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F8174A8-D8C4-49A5-9C28-2AE0AA40A941}"/>
              </a:ext>
            </a:extLst>
          </p:cNvPr>
          <p:cNvSpPr txBox="1">
            <a:spLocks/>
          </p:cNvSpPr>
          <p:nvPr/>
        </p:nvSpPr>
        <p:spPr>
          <a:xfrm>
            <a:off x="8808214" y="3049759"/>
            <a:ext cx="1799446" cy="324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>
                <a:solidFill>
                  <a:schemeClr val="bg1"/>
                </a:solidFill>
              </a:rPr>
              <a:t>Simon’s </a:t>
            </a:r>
            <a:r>
              <a:rPr lang="en-GB" sz="2000" b="1" dirty="0" err="1">
                <a:solidFill>
                  <a:schemeClr val="bg1"/>
                </a:solidFill>
              </a:rPr>
              <a:t>Linktree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936560C-0554-7251-7A3A-FDEC651FF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003" y="4454360"/>
            <a:ext cx="553628" cy="632718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A40F1D6C-F0C9-6C0A-3D1B-12BB316F6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003" y="3278639"/>
            <a:ext cx="553628" cy="63271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372C668-86C2-2E5A-DC81-43953C4CA9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003" y="2621018"/>
            <a:ext cx="553628" cy="63271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F7AD420-F6C3-85F2-8FE4-3BEF878188B4}"/>
              </a:ext>
            </a:extLst>
          </p:cNvPr>
          <p:cNvSpPr txBox="1"/>
          <p:nvPr/>
        </p:nvSpPr>
        <p:spPr>
          <a:xfrm>
            <a:off x="1402080" y="2865093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simon</a:t>
            </a:r>
            <a:r>
              <a:rPr lang="en-GB" dirty="0"/>
              <a:t>-john-lee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ACF919-A2CD-F214-0D9C-F857C170400A}"/>
              </a:ext>
            </a:extLst>
          </p:cNvPr>
          <p:cNvSpPr txBox="1"/>
          <p:nvPr/>
        </p:nvSpPr>
        <p:spPr>
          <a:xfrm>
            <a:off x="1412272" y="3490532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smoon_lee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9EEC9A-ACE4-8A89-B302-65BFCA6B9919}"/>
              </a:ext>
            </a:extLst>
          </p:cNvPr>
          <p:cNvSpPr txBox="1"/>
          <p:nvPr/>
        </p:nvSpPr>
        <p:spPr>
          <a:xfrm>
            <a:off x="1412272" y="4676880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smoonlee</a:t>
            </a:r>
            <a:endParaRPr lang="en-GB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7985254-BD82-C3DA-7F98-AD9E149C02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0218" y="3936260"/>
            <a:ext cx="493197" cy="49319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7D24A26-B55C-CD7B-66CA-F47B81E6E939}"/>
              </a:ext>
            </a:extLst>
          </p:cNvPr>
          <p:cNvSpPr txBox="1"/>
          <p:nvPr/>
        </p:nvSpPr>
        <p:spPr>
          <a:xfrm>
            <a:off x="1412272" y="4036359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smoon_lee</a:t>
            </a:r>
            <a:endParaRPr lang="en-GB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DF333A46-3BF9-F6B7-55A4-5BD0DBD6BB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8819" y="5111981"/>
            <a:ext cx="584812" cy="51983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06D5ACC-5925-6A12-5ED1-98500AF230EF}"/>
              </a:ext>
            </a:extLst>
          </p:cNvPr>
          <p:cNvSpPr txBox="1"/>
          <p:nvPr/>
        </p:nvSpPr>
        <p:spPr>
          <a:xfrm>
            <a:off x="1412272" y="5187231"/>
            <a:ext cx="2610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thebuiltwithcaffeineblog</a:t>
            </a:r>
            <a:endParaRPr lang="en-GB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915B51-8BBF-BB0C-C5EF-183C293BDC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0003" y="5630081"/>
            <a:ext cx="520065" cy="5943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C6BA25F-986E-0358-1DFC-7F97B75F9F69}"/>
              </a:ext>
            </a:extLst>
          </p:cNvPr>
          <p:cNvSpPr txBox="1"/>
          <p:nvPr/>
        </p:nvSpPr>
        <p:spPr>
          <a:xfrm>
            <a:off x="1402080" y="5742595"/>
            <a:ext cx="2970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blog.builtwithcaffeine.cloud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00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2854B-45E4-5898-0326-EED7494F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B80ACF7-5012-96AC-C47E-D534D65F8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1F70A-B90D-53B4-CC7B-AB52B7767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E07F0-5304-67D6-EC67-EAFF84AC1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1B4E1-0C84-0BB3-7824-86682A3C0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1F96F-6165-E40B-56E2-8A8B352CB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9D4B9-89DF-AF31-1152-08239DD7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The Back Story: What Do We Know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033B7-D227-0B89-A4F0-C82FBCB87CFF}"/>
              </a:ext>
            </a:extLst>
          </p:cNvPr>
          <p:cNvSpPr txBox="1"/>
          <p:nvPr/>
        </p:nvSpPr>
        <p:spPr>
          <a:xfrm>
            <a:off x="542258" y="2055150"/>
            <a:ext cx="116497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Why Cert Management Has Always Been Tiresome:</a:t>
            </a:r>
            <a:br>
              <a:rPr lang="en-GB" b="1" dirty="0"/>
            </a:b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🔁 </a:t>
            </a:r>
            <a:r>
              <a:rPr lang="en-GB" b="1" dirty="0"/>
              <a:t>Short validity periods</a:t>
            </a:r>
            <a:r>
              <a:rPr lang="en-GB" dirty="0"/>
              <a:t> mean certificates need regular renewal and redeployment.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⚠️ </a:t>
            </a:r>
            <a:r>
              <a:rPr lang="en-GB" b="1" dirty="0"/>
              <a:t>Manual renewal processes</a:t>
            </a:r>
            <a:r>
              <a:rPr lang="en-GB" dirty="0"/>
              <a:t> often involve human error, downtime, or last-minute scrambles.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🗺️ </a:t>
            </a:r>
            <a:r>
              <a:rPr lang="en-GB" b="1" dirty="0"/>
              <a:t>Scattered certificates</a:t>
            </a:r>
            <a:r>
              <a:rPr lang="en-GB" dirty="0"/>
              <a:t> across multiple systems and environments — no single source of truth.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❌ </a:t>
            </a:r>
            <a:r>
              <a:rPr lang="en-GB" b="1" dirty="0"/>
              <a:t>Lack of automation</a:t>
            </a:r>
            <a:r>
              <a:rPr lang="en-GB" dirty="0"/>
              <a:t> leads to poor visibility, missed expirations, and reactive firefighting.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🔐 </a:t>
            </a:r>
            <a:r>
              <a:rPr lang="en-GB" b="1" dirty="0"/>
              <a:t>Complicated tooling</a:t>
            </a:r>
            <a:r>
              <a:rPr lang="en-GB" dirty="0"/>
              <a:t> around PKI, intermediate chains, and server bindings adds confusion.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89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A1009-40EE-5B4C-B726-48F1E9E8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C059B6-4E55-9B68-393F-C15EDEDD5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903B8-23CB-7E39-5DF1-060A34559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36C373-9E5A-CECF-C44B-8D9909960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B0B5D-3526-9A8D-5044-A1F53094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BCEE7D-B002-C848-AC75-D5D7B424E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1C982-A3EF-32C4-AC46-5BC4C73B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The Back Story: What Do We Know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BF1E9-3D19-7B72-F739-4E3731C9EBBE}"/>
              </a:ext>
            </a:extLst>
          </p:cNvPr>
          <p:cNvSpPr txBox="1"/>
          <p:nvPr/>
        </p:nvSpPr>
        <p:spPr>
          <a:xfrm>
            <a:off x="542258" y="2055150"/>
            <a:ext cx="1164974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Why It's About to Get Worse:</a:t>
            </a:r>
          </a:p>
          <a:p>
            <a:endParaRPr lang="en-GB" b="1" dirty="0"/>
          </a:p>
          <a:p>
            <a:r>
              <a:rPr lang="en-GB" dirty="0"/>
              <a:t>📉 </a:t>
            </a:r>
            <a:r>
              <a:rPr lang="en-GB" b="1" dirty="0"/>
              <a:t>DigiCert &amp; the CA/Browser Forum</a:t>
            </a:r>
            <a:r>
              <a:rPr lang="en-GB" dirty="0"/>
              <a:t> are reducing certificate lifetimes industry-wide.</a:t>
            </a:r>
          </a:p>
          <a:p>
            <a:endParaRPr lang="en-GB" dirty="0"/>
          </a:p>
          <a:p>
            <a:r>
              <a:rPr lang="en-GB" dirty="0"/>
              <a:t>⏳ As of </a:t>
            </a:r>
            <a:r>
              <a:rPr lang="en-GB" b="1" dirty="0"/>
              <a:t>March 2026</a:t>
            </a:r>
            <a:r>
              <a:rPr lang="en-GB" dirty="0"/>
              <a:t>, max cert life will be </a:t>
            </a:r>
            <a:r>
              <a:rPr lang="en-GB" b="1" dirty="0"/>
              <a:t>just 200 days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⏳ As of </a:t>
            </a:r>
            <a:r>
              <a:rPr lang="en-GB" b="1" dirty="0"/>
              <a:t>March 2027</a:t>
            </a:r>
            <a:r>
              <a:rPr lang="en-GB" dirty="0"/>
              <a:t>, max cert life will be </a:t>
            </a:r>
            <a:r>
              <a:rPr lang="en-GB" b="1" dirty="0"/>
              <a:t>just 100 days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⏳ As of </a:t>
            </a:r>
            <a:r>
              <a:rPr lang="en-GB" b="1" dirty="0"/>
              <a:t>March 2029</a:t>
            </a:r>
            <a:r>
              <a:rPr lang="en-GB" dirty="0"/>
              <a:t>, max cert life will be </a:t>
            </a:r>
            <a:r>
              <a:rPr lang="en-GB" b="1" dirty="0"/>
              <a:t>just 47 days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🧠 More frequent renewals = </a:t>
            </a:r>
            <a:r>
              <a:rPr lang="en-GB" b="1" dirty="0"/>
              <a:t>more opportunity for failure</a:t>
            </a:r>
            <a:r>
              <a:rPr lang="en-GB" dirty="0"/>
              <a:t>, missed deadlines, and outages.</a:t>
            </a:r>
          </a:p>
          <a:p>
            <a:endParaRPr lang="en-GB" dirty="0"/>
          </a:p>
          <a:p>
            <a:r>
              <a:rPr lang="en-GB" dirty="0"/>
              <a:t>🚨 Teams that don’t automate will be stuck in a loop of constant cert chasing.</a:t>
            </a:r>
          </a:p>
          <a:p>
            <a:endParaRPr lang="en-GB" dirty="0"/>
          </a:p>
          <a:p>
            <a:r>
              <a:rPr lang="en-GB" dirty="0"/>
              <a:t>source: </a:t>
            </a:r>
            <a:r>
              <a:rPr lang="en-GB" dirty="0">
                <a:hlinkClick r:id="rId2"/>
              </a:rPr>
              <a:t>https://www.digicert.com/blog/tls-certificate-lifetimes-will-officially-reduce-to-47-days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247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5FC6-FF0B-D553-D63D-2AB58896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ACF89A-AA28-6B90-C124-AC37CCB7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FDCDF-9247-9CD6-C56B-388FD352A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9FAC2-2E17-B57D-8B69-395DF428D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A0A3B-B9F5-B692-5EF7-F38F15AC5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96BBD8-5E8D-31F0-302A-C2EFC6515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AEFDB-7EEC-3FC5-F5DA-E82B38D6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The Solution: Key Vault ACME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3F225-DAD1-9997-E281-D3D91C62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67" y="1869277"/>
            <a:ext cx="6609053" cy="4331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89176-1009-CB77-88CF-13951F00D193}"/>
              </a:ext>
            </a:extLst>
          </p:cNvPr>
          <p:cNvSpPr txBox="1"/>
          <p:nvPr/>
        </p:nvSpPr>
        <p:spPr>
          <a:xfrm>
            <a:off x="269267" y="6294461"/>
            <a:ext cx="4883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https://github.com/shibayan/keyvault-acmebot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90D11-AC75-2A1C-FA76-83EEDD99F59B}"/>
              </a:ext>
            </a:extLst>
          </p:cNvPr>
          <p:cNvSpPr txBox="1"/>
          <p:nvPr/>
        </p:nvSpPr>
        <p:spPr>
          <a:xfrm>
            <a:off x="6878320" y="2024372"/>
            <a:ext cx="490728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 Support for ACME v2 compliant Certification Authorities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Let's Encrypt</a:t>
            </a:r>
            <a:endParaRPr lang="en-GB" sz="1000" b="1" i="0" dirty="0">
              <a:effectLst/>
              <a:latin typeface="+mj-lt"/>
              <a:cs typeface="Aharoni" panose="02010803020104030203" pitchFamily="2" charset="-79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Buypass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Go SSL</a:t>
            </a:r>
            <a:endParaRPr lang="en-GB" sz="1000" b="1" i="0" dirty="0">
              <a:effectLst/>
              <a:latin typeface="+mj-lt"/>
              <a:cs typeface="Aharoni" panose="02010803020104030203" pitchFamily="2" charset="-79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ZeroSSL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Trust Services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SSL.com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u="sng" dirty="0">
                <a:effectLst/>
                <a:latin typeface="+mj-lt"/>
                <a:cs typeface="Aharoni" panose="02010803020104030203" pitchFamily="2" charset="-79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Entrust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 (Requires EAB Credentials)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 Certificates can be used with many Azure services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Azure App Services (Web Apps / Functions / Containers)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Azure Container Apps (Include custom DNS suffix)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Front Door (Standard / Premium)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Application Gateway v2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API Management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 err="1">
                <a:effectLst/>
                <a:latin typeface="+mj-lt"/>
                <a:cs typeface="Aharoni" panose="02010803020104030203" pitchFamily="2" charset="-79"/>
              </a:rPr>
              <a:t>SignalR</a:t>
            </a: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 Service (Premium)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i="0" dirty="0">
                <a:effectLst/>
                <a:latin typeface="+mj-lt"/>
                <a:cs typeface="Aharoni" panose="02010803020104030203" pitchFamily="2" charset="-79"/>
              </a:rPr>
              <a:t>Virtual Machine</a:t>
            </a:r>
          </a:p>
        </p:txBody>
      </p:sp>
    </p:spTree>
    <p:extLst>
      <p:ext uri="{BB962C8B-B14F-4D97-AF65-F5344CB8AC3E}">
        <p14:creationId xmlns:p14="http://schemas.microsoft.com/office/powerpoint/2010/main" val="40562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0F555-092E-71EB-446D-F4114289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A0E175-A280-5B9C-0FC4-1F2657E5F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7A9AE-67E5-A067-D69F-0E0F00C39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8A1E9-D08C-C525-FFD4-F20F477D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A32C2-7404-DB56-DDCC-77A6F2164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8D5253-7335-1195-C7E7-B33B769B1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4E3F6-EAC4-573C-2B66-D5BF7A95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The Solution: </a:t>
            </a:r>
            <a:r>
              <a:rPr lang="en-GB" sz="4000" b="1" dirty="0" err="1">
                <a:solidFill>
                  <a:schemeClr val="bg1"/>
                </a:solidFill>
              </a:rPr>
              <a:t>IaC</a:t>
            </a:r>
            <a:r>
              <a:rPr lang="en-GB" sz="4000" b="1" dirty="0">
                <a:solidFill>
                  <a:schemeClr val="bg1"/>
                </a:solidFill>
              </a:rPr>
              <a:t>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E687D-5FF3-F50D-A851-551023E3A807}"/>
              </a:ext>
            </a:extLst>
          </p:cNvPr>
          <p:cNvSpPr txBox="1"/>
          <p:nvPr/>
        </p:nvSpPr>
        <p:spPr>
          <a:xfrm>
            <a:off x="269267" y="6294461"/>
            <a:ext cx="6460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https://github.com/builtwithcaffeine/bwc-keyvault-acme-bicep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9253F-5DE0-83CC-A488-4B64C1BB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2" y="1869276"/>
            <a:ext cx="5357312" cy="43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6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00826-4BB9-7B00-F8DF-1B3C80A2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3FCB1C-6E63-9652-B598-763C197FC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E5167-4FAE-E102-23E7-11E88B2E5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D3ED9B-4A12-FBA5-FF14-2816514DD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BA1D2F-F666-4633-B80F-D677EB189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5B4134-E578-4E92-8FE7-E2F25EAA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6571F-94C8-7218-25EB-9063F710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9" y="278535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The Solution: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43BDD-9991-2EC2-6E34-E0C4A6A19745}"/>
              </a:ext>
            </a:extLst>
          </p:cNvPr>
          <p:cNvSpPr txBox="1"/>
          <p:nvPr/>
        </p:nvSpPr>
        <p:spPr>
          <a:xfrm>
            <a:off x="269267" y="6294461"/>
            <a:ext cx="6460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https://github.com/builtwithcaffeine/bwc-keyvault-acme-bicep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6A25B2-2CAE-08DD-8BC0-C332AAA92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2" y="1869276"/>
            <a:ext cx="5357312" cy="43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0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C4C0-ED33-E230-E4BA-47B13489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7464-4254-C06F-2E3A-FBFF55EF7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217" y="1231091"/>
            <a:ext cx="6596245" cy="1514425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solidFill>
                  <a:srgbClr val="FFFFFF"/>
                </a:solidFill>
              </a:rPr>
              <a:t>The Lazy Ops Guide to Cert Management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92F4E2B0-48C0-4D98-175A-566EBACB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E5644-4F8B-CE9C-1E95-DCB0C7831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1A238-3F63-A853-1172-93B9C28A8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CC973-2839-6676-0E60-3B162BAFF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BC006B-9623-70C9-224C-DCB4FF18F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183E33-BA99-887F-06EC-4DB27AE3F56F}"/>
              </a:ext>
            </a:extLst>
          </p:cNvPr>
          <p:cNvSpPr txBox="1">
            <a:spLocks/>
          </p:cNvSpPr>
          <p:nvPr/>
        </p:nvSpPr>
        <p:spPr>
          <a:xfrm>
            <a:off x="732217" y="1231091"/>
            <a:ext cx="6596245" cy="1514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b="1" dirty="0">
                <a:solidFill>
                  <a:srgbClr val="FFFFFF"/>
                </a:solidFill>
              </a:rPr>
              <a:t>The Lazy Ops Guide to Cert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EB25D-5D7B-6F74-47FB-3607DE05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5FFAB0-51A4-F5E3-004B-ED68A2448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C54176C-FCEB-720A-E678-4AE38B74AC39}"/>
              </a:ext>
            </a:extLst>
          </p:cNvPr>
          <p:cNvSpPr txBox="1">
            <a:spLocks/>
          </p:cNvSpPr>
          <p:nvPr/>
        </p:nvSpPr>
        <p:spPr>
          <a:xfrm>
            <a:off x="3032418" y="4112485"/>
            <a:ext cx="6596245" cy="7884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FFFF"/>
                </a:solidFill>
              </a:rPr>
              <a:t>Demo Time 🥳</a:t>
            </a:r>
          </a:p>
        </p:txBody>
      </p:sp>
    </p:spTree>
    <p:extLst>
      <p:ext uri="{BB962C8B-B14F-4D97-AF65-F5344CB8AC3E}">
        <p14:creationId xmlns:p14="http://schemas.microsoft.com/office/powerpoint/2010/main" val="353166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The Lazy Ops Guide to Cert Management</vt:lpstr>
      <vt:lpstr>Who Am I?</vt:lpstr>
      <vt:lpstr>The Back Story: What Do We Know</vt:lpstr>
      <vt:lpstr>The Back Story: What Do We Know</vt:lpstr>
      <vt:lpstr>The Solution: Key Vault ACME</vt:lpstr>
      <vt:lpstr>The Solution: IaC Automation</vt:lpstr>
      <vt:lpstr>The Solution:</vt:lpstr>
      <vt:lpstr>The Lazy Ops Guide to Cert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Lee | Intercept</dc:creator>
  <cp:lastModifiedBy>Simon Lee | Intercept</cp:lastModifiedBy>
  <cp:revision>1</cp:revision>
  <dcterms:created xsi:type="dcterms:W3CDTF">2025-06-09T09:38:26Z</dcterms:created>
  <dcterms:modified xsi:type="dcterms:W3CDTF">2025-06-09T10:19:12Z</dcterms:modified>
</cp:coreProperties>
</file>